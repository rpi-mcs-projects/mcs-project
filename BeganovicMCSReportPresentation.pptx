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2160" autoAdjust="0"/>
  </p:normalViewPr>
  <p:slideViewPr>
    <p:cSldViewPr snapToGrid="0">
      <p:cViewPr varScale="1">
        <p:scale>
          <a:sx n="60" d="100"/>
          <a:sy n="60" d="100"/>
        </p:scale>
        <p:origin x="9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DD654-CAAA-493E-A8D7-2B81775BD9D4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1934E-E5E4-4F34-8E27-2DA914644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89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934E-E5E4-4F34-8E27-2DA914644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254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Uniform sampling</a:t>
                </a:r>
                <a:r>
                  <a:rPr lang="en-US" dirty="0"/>
                  <a:t> → chirps occur at perfectly regular intervals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𝑡_𝑘=𝑘𝑇</a:t>
                </a:r>
                <a:endParaRPr lang="ar-AE" dirty="0"/>
              </a:p>
              <a:p>
                <a:r>
                  <a:rPr lang="en-US" b="1" dirty="0"/>
                  <a:t>Jittered sampling</a:t>
                </a:r>
                <a:r>
                  <a:rPr lang="en-US" dirty="0"/>
                  <a:t> → chirps occur at irregular intervals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𝑡_𝑘=𝑘𝑇+𝛿_𝑘</a:t>
                </a:r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𝛿_𝑘∼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"small random jitter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r>
                  <a:rPr lang="en-US" dirty="0"/>
                  <a:t>This jitter changes </a:t>
                </a:r>
                <a:r>
                  <a:rPr lang="en-US" b="1" dirty="0"/>
                  <a:t>when</a:t>
                </a:r>
                <a:r>
                  <a:rPr lang="en-US" dirty="0"/>
                  <a:t> the echo from each chirp is recorded.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spoofing reflectors</a:t>
                </a:r>
                <a:r>
                  <a:rPr lang="en-US" dirty="0"/>
                  <a:t> (modulated retro-reflectors, RIS-based reflectors, or active repeaters):</a:t>
                </a:r>
              </a:p>
              <a:p>
                <a:r>
                  <a:rPr lang="en-US" dirty="0"/>
                  <a:t>Rely on </a:t>
                </a:r>
                <a:r>
                  <a:rPr lang="en-US" b="1" dirty="0"/>
                  <a:t>sampling aliasing</a:t>
                </a:r>
                <a:r>
                  <a:rPr lang="en-US" dirty="0"/>
                  <a:t> and </a:t>
                </a:r>
                <a:r>
                  <a:rPr lang="en-US" b="1" dirty="0"/>
                  <a:t>phase alignment</a:t>
                </a:r>
                <a:r>
                  <a:rPr lang="en-US" dirty="0"/>
                  <a:t> across chirps</a:t>
                </a:r>
              </a:p>
              <a:p>
                <a:r>
                  <a:rPr lang="en-US" dirty="0"/>
                  <a:t>Expect a </a:t>
                </a:r>
                <a:r>
                  <a:rPr lang="en-US" i="1" dirty="0"/>
                  <a:t>uniform slow-time grid</a:t>
                </a:r>
                <a:r>
                  <a:rPr lang="en-US" dirty="0"/>
                  <a:t> to produce constructive interference</a:t>
                </a:r>
              </a:p>
              <a:p>
                <a:r>
                  <a:rPr lang="en-US" dirty="0"/>
                  <a:t>Need that uniform grid to make their “fake” range bin appear</a:t>
                </a:r>
              </a:p>
              <a:p>
                <a:r>
                  <a:rPr lang="en-US" dirty="0"/>
                  <a:t>By breaking the uniformity, the radar </a:t>
                </a:r>
                <a:r>
                  <a:rPr lang="en-US" b="1" dirty="0"/>
                  <a:t>interrupts the coherence</a:t>
                </a:r>
                <a:r>
                  <a:rPr lang="en-US" dirty="0"/>
                  <a:t> that spoofing devices depend 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Like clapping hands with someone, same rhythm is loud vs adding claps together random produces a weak clap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Coherent sum under uniform sampling</a:t>
                </a:r>
              </a:p>
              <a:p>
                <a:endParaRPr lang="en-US" dirty="0"/>
              </a:p>
              <a:p>
                <a:r>
                  <a:rPr lang="en-US" dirty="0"/>
                  <a:t>Under uniform chirp timing: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𝑡_𝑘=𝑘𝑇</a:t>
                </a:r>
                <a:endParaRPr lang="ar-AE" dirty="0"/>
              </a:p>
              <a:p>
                <a:r>
                  <a:rPr lang="en-US" dirty="0"/>
                  <a:t>A natural radar echo from a real object looks like: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(𝑘)=𝐴𝑒^(𝑗2𝜋𝑓_𝐷 𝑘𝑇)</a:t>
                </a:r>
                <a:endParaRPr lang="ar-AE" dirty="0"/>
              </a:p>
              <a:p>
                <a:r>
                  <a:rPr lang="en-US" dirty="0"/>
                  <a:t>Do Doppler FFT</a:t>
                </a:r>
              </a:p>
              <a:p>
                <a:endParaRPr lang="en-US" dirty="0"/>
              </a:p>
              <a:p>
                <a:r>
                  <a:rPr lang="en-US" dirty="0"/>
                  <a:t>produces a </a:t>
                </a:r>
                <a:r>
                  <a:rPr lang="en-US" b="1" dirty="0"/>
                  <a:t>sharp, strong peak</a:t>
                </a:r>
                <a:r>
                  <a:rPr lang="en-US" dirty="0"/>
                  <a:t> — called </a:t>
                </a:r>
                <a:r>
                  <a:rPr lang="en-US" b="1" dirty="0"/>
                  <a:t>coherent peak energy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Why?</a:t>
                </a:r>
              </a:p>
              <a:p>
                <a:r>
                  <a:rPr lang="en-US" dirty="0"/>
                  <a:t>Because the phase between chirps is predictable and consistent:</a:t>
                </a:r>
              </a:p>
              <a:p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Δ𝜙=2𝜋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𝑓_𝐷 𝑇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"(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constant)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r>
                  <a:rPr lang="en-US" dirty="0"/>
                  <a:t>All samples line up → constructive interference → strong peak.</a:t>
                </a:r>
              </a:p>
              <a:p>
                <a:endParaRPr lang="en-US" dirty="0"/>
              </a:p>
              <a:p>
                <a:r>
                  <a:rPr lang="en-US" dirty="0"/>
                  <a:t>Under jitter: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𝑡_𝑘=𝑘𝑇+𝛿_𝑘</a:t>
                </a:r>
                <a:endParaRPr lang="ar-AE" dirty="0"/>
              </a:p>
              <a:p>
                <a:r>
                  <a:rPr lang="en-US" dirty="0"/>
                  <a:t>Now: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(𝑘)=𝐴𝑒^(𝑗2𝜋𝑓_𝐷 (𝑘𝑇+𝛿_𝑘 ) )</a:t>
                </a:r>
                <a:endParaRPr lang="ar-AE" dirty="0"/>
              </a:p>
              <a:p>
                <a:r>
                  <a:rPr lang="en-US" dirty="0"/>
                  <a:t>The extra term: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𝑒^(𝑗2𝜋𝑓_𝐷 𝛿_𝑘 )</a:t>
                </a:r>
                <a:endParaRPr lang="ar-AE" dirty="0"/>
              </a:p>
              <a:p>
                <a:r>
                  <a:rPr lang="en-US" dirty="0"/>
                  <a:t>introduces </a:t>
                </a:r>
                <a:r>
                  <a:rPr lang="en-US" b="1" dirty="0"/>
                  <a:t>random phase noise</a:t>
                </a:r>
                <a:r>
                  <a:rPr lang="en-US" dirty="0"/>
                  <a:t> per chirp.</a:t>
                </a:r>
              </a:p>
              <a:p>
                <a:endParaRPr lang="en-US" dirty="0"/>
              </a:p>
              <a:p>
                <a:r>
                  <a:rPr lang="en-US" b="1" dirty="0"/>
                  <a:t>Phases no longer align</a:t>
                </a:r>
              </a:p>
              <a:p>
                <a:r>
                  <a:rPr lang="en-US" b="1" dirty="0"/>
                  <a:t>Doppler sinusoid becomes distorted</a:t>
                </a:r>
              </a:p>
              <a:p>
                <a:r>
                  <a:rPr lang="en-US" b="1" dirty="0"/>
                  <a:t>Energy spreads across many Doppler bins</a:t>
                </a:r>
              </a:p>
              <a:p>
                <a:r>
                  <a:rPr lang="en-US" b="1" dirty="0"/>
                  <a:t>Peak collapses</a:t>
                </a:r>
              </a:p>
              <a:p>
                <a:r>
                  <a:rPr lang="en-US" dirty="0"/>
                  <a:t>In other words:</a:t>
                </a:r>
              </a:p>
              <a:p>
                <a:r>
                  <a:rPr lang="en-US" b="1" dirty="0"/>
                  <a:t>Outcome: Coherence is destroyed</a:t>
                </a:r>
              </a:p>
              <a:p>
                <a:r>
                  <a:rPr lang="en-US" dirty="0"/>
                  <a:t>The FFT peak becomes smaller or disappears entirely.</a:t>
                </a:r>
              </a:p>
              <a:p>
                <a:endParaRPr lang="en-US" dirty="0"/>
              </a:p>
              <a:p>
                <a:r>
                  <a:rPr lang="en-US" dirty="0"/>
                  <a:t>Spoofing relies on signal aliasing, consistent sampling, to generate an artificial coherence  → jitter destroys artificial coherence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SCR computes: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"PeakMagnitudeDiff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(∣𝑃_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"uniform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−𝑃_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"jittered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∣)/𝑃_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"uniform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</a:t>
                </a:r>
                <a:endParaRPr lang="ar-AE" b="0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"uniform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ar-AE" dirty="0"/>
                  <a:t>= </a:t>
                </a:r>
                <a:r>
                  <a:rPr lang="en-US" dirty="0"/>
                  <a:t>peak energy under uniform sampling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"jittered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ar-AE" dirty="0"/>
                  <a:t>= </a:t>
                </a:r>
                <a:r>
                  <a:rPr lang="en-US" dirty="0"/>
                  <a:t>peak energy under jittered sampling</a:t>
                </a:r>
              </a:p>
              <a:p>
                <a:r>
                  <a:rPr lang="en-US" b="1" dirty="0"/>
                  <a:t>Interpretation:</a:t>
                </a:r>
              </a:p>
              <a:p>
                <a:r>
                  <a:rPr lang="en-US" b="1" dirty="0"/>
                  <a:t>Real object: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"uniform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≈𝑃_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"jittered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 ⇒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"small difference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r>
                  <a:rPr lang="en-US" b="1" dirty="0"/>
                  <a:t>Spoofing reflector: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"uniform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≫𝑃_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"jittered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 ⇒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"large difference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934E-E5E4-4F34-8E27-2DA914644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89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934E-E5E4-4F34-8E27-2DA914644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49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0D3CC0-1741-4F07-B647-789BBA12E73E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295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41E5D-0276-4F4A-83E3-1F8A36BC0AE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13FD57-54B6-4E3C-97A4-AC4F35832310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09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56B3854-6424-4160-9EB4-E2EF39A39B70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1734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2EE4185-0B50-4730-BFA2-66A05E974A8D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092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B37731-3680-43A3-A3CC-D7CF31EB422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524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250B94-E5EA-4C16-9508-E11E5391C3E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88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3F0DAE-C442-4FA8-A36F-54E37449CE85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844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BAEDE-31ED-437D-B528-1FE6993767B4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215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C18EC7-6BB6-419E-87ED-EBE806DAAAFA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44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FC63DE-7700-4759-A6A3-EE495F9A76D2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442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B5E761-D966-4247-BB8C-FE10C648AABD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26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488861-EA7A-4D98-913F-33B97D284F1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632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30B6-B642-4069-9C22-84D81D92E20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34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8C873-DEF7-4290-9E34-65CC0ECB242A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163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2862B-D9A4-41F7-90F7-5886CC022F35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15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D1CD5-C44D-43E1-853E-586E59E92395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396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2BFE4C-6694-4813-8F4A-9A6E45E718E3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89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B866-9EC5-4C88-9186-3CB0504881A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684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306EB494-54E6-4790-B7DC-404CB795C78A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012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D9CE-803E-48EE-A756-805E99B3D535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997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B72A414-E828-4F3D-B5BB-15EC99952489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4528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5BFA6C3-FF04-4ADB-8C77-A20830B7C092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095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030CB8F-665C-4ED4-B417-96EBC302188E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587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7FA5DC-079B-4526-B9DF-AA9050685EF0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16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00AA7AD-F8BC-44D7-8107-C7EA59EC6F50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185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CDA6299-23B9-47EA-B23E-D72F5E787614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500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92E27F-5C32-4A14-952A-5CF82DD18A81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6265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09F6-B887-4BD0-AEFC-E470B020B479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809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2864-CEC5-4FFB-A24A-6825A41872A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467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E34E-DAB3-49E2-84D0-7F21C8119633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358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3A897F-582F-45BD-ABA2-6AECB59ED31B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605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503068-C35C-4594-931B-E056CC54136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209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16DBF5-9CB7-44FA-B9C5-53D88B359EC8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543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F31C8C-6CB8-4E77-B89A-E33DB4CD4AC1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769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2852-62C6-4C62-944F-9F96EC71B37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6914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CF84-78CD-4843-8C2C-88C94F158444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271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96CF20-CADA-4A57-8F28-AEFF1D1A125E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094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4DE321-BCFD-4172-9D5A-D33D14FDEF79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031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5440C4-40ED-413F-B283-68794B756231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1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82087-E96A-4CD8-BC42-0731ADC1F02D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7357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B2F2-4A42-4079-86AD-EB84BC0C098B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274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0DF0-164F-40C6-9870-BF2849D8F5E1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4361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FC31-4B94-4CB3-9C1A-65A117021323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863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3853A-7721-4C19-AAF0-EEBC68DFFAE8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5209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F03FA-EB1E-468E-ADA2-1EBD3CF0E0C5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167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3313F5-6784-4E89-B1A4-E3A8700AC542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59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B51B5C-6A9C-415F-B2D2-0DF81A4F319F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56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5FF636B7-8A94-445D-A8BB-32EF56006C7C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4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61" r:id="rId32"/>
    <p:sldLayoutId id="2147483893" r:id="rId33"/>
    <p:sldLayoutId id="2147483894" r:id="rId34"/>
    <p:sldLayoutId id="2147483895" r:id="rId35"/>
    <p:sldLayoutId id="2147483896" r:id="rId36"/>
    <p:sldLayoutId id="2147483897" r:id="rId37"/>
    <p:sldLayoutId id="2147483898" r:id="rId38"/>
    <p:sldLayoutId id="2147483899" r:id="rId39"/>
    <p:sldLayoutId id="2147483907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860" r:id="rId4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SP46215.2023.10179371" TargetMode="External"/><Relationship Id="rId2" Type="http://schemas.openxmlformats.org/officeDocument/2006/relationships/hyperlink" Target="https://doi.org/10.14722/ndss.2024.24153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B46C-76EB-918B-BC4E-B8584A70F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3115" y="1319521"/>
            <a:ext cx="6694714" cy="288950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Toward Spoofing-Resilient and Communication-Integrated MmWave Radar Sensing(SCR)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EF54F-52C5-FD36-1461-9CBAD32FF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anchor="ctr">
            <a:normAutofit/>
          </a:bodyPr>
          <a:lstStyle/>
          <a:p>
            <a:r>
              <a:rPr lang="en-US" b="1" dirty="0"/>
              <a:t>Vedran BEGanovic</a:t>
            </a:r>
          </a:p>
          <a:p>
            <a:r>
              <a:rPr lang="en-US" dirty="0"/>
              <a:t>MCS Project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CB51148-AD01-2060-4FAC-B222A42C69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0673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3D86F-5B23-FD1C-EAB0-1E61E1C1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6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C1C6-0D60-2F82-9164-ED8001EC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Spoofing Problem &amp; SCR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2F33D-5FD2-1192-A305-8CDC64537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3041033"/>
          </a:xfrm>
        </p:spPr>
        <p:txBody>
          <a:bodyPr/>
          <a:lstStyle/>
          <a:p>
            <a:r>
              <a:rPr lang="en-US" dirty="0"/>
              <a:t>Spoofers can manipulate backscattered radar signals → generating “ghost targets”</a:t>
            </a:r>
          </a:p>
          <a:p>
            <a:r>
              <a:rPr lang="en-US" dirty="0"/>
              <a:t>GNSS spoofing (e.g., GPS L1/L5) demonstrates feasibility of signal deception</a:t>
            </a:r>
          </a:p>
          <a:p>
            <a:r>
              <a:rPr lang="en-US" dirty="0"/>
              <a:t>Automotive radar will need multi-frequency spoofing defenses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BBC41-B3D0-793A-E40E-D80F66D17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u="sng" dirty="0"/>
              <a:t>S</a:t>
            </a:r>
            <a:r>
              <a:rPr lang="en-US" dirty="0"/>
              <a:t>poofing-resilient and </a:t>
            </a:r>
            <a:r>
              <a:rPr lang="en-US" b="1" u="sng" dirty="0"/>
              <a:t>C</a:t>
            </a:r>
            <a:r>
              <a:rPr lang="en-US" dirty="0"/>
              <a:t>ommunication-integrated </a:t>
            </a:r>
            <a:r>
              <a:rPr lang="en-US" b="1" u="sng" dirty="0"/>
              <a:t>R</a:t>
            </a:r>
            <a:r>
              <a:rPr lang="en-US" dirty="0"/>
              <a:t>adar sensing scheme</a:t>
            </a:r>
          </a:p>
          <a:p>
            <a:r>
              <a:rPr lang="en-US" b="1" dirty="0"/>
              <a:t>SCR Methodology</a:t>
            </a:r>
          </a:p>
          <a:p>
            <a:r>
              <a:rPr lang="en-US" b="1" dirty="0"/>
              <a:t>Chirp-splitting</a:t>
            </a:r>
            <a:r>
              <a:rPr lang="en-US" dirty="0"/>
              <a:t> - divides the chirp into sub-bands to detect suspicious Doppler peaks</a:t>
            </a:r>
          </a:p>
          <a:p>
            <a:r>
              <a:rPr lang="en-US" b="1" dirty="0"/>
              <a:t>Frame-splitting</a:t>
            </a:r>
            <a:r>
              <a:rPr lang="en-US" dirty="0"/>
              <a:t> - separates uniformly vs. nonuniformly sampled chirps; spoof targets appear in uniform samples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17101-A99E-9146-48F5-05FAA9EE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44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C8B9-B799-60F8-6889-355CCFA1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26479-3668-2261-92CD-C8A6554FA4D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MATLAB</a:t>
            </a:r>
          </a:p>
          <a:p>
            <a:pPr lvl="1"/>
            <a:r>
              <a:rPr lang="en-US" dirty="0"/>
              <a:t>Signal Processing Toolbox</a:t>
            </a:r>
          </a:p>
          <a:p>
            <a:pPr lvl="1"/>
            <a:r>
              <a:rPr lang="en-US" dirty="0"/>
              <a:t>Radar Toolbox</a:t>
            </a:r>
          </a:p>
          <a:p>
            <a:pPr lvl="1"/>
            <a:r>
              <a:rPr lang="en-US" dirty="0"/>
              <a:t>Phased Array Toolbox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No datasets or hardware experiments</a:t>
            </a:r>
            <a:r>
              <a:rPr lang="en-US" dirty="0"/>
              <a:t> in this current project</a:t>
            </a:r>
          </a:p>
          <a:p>
            <a:pPr marL="228600" lvl="1" indent="0">
              <a:buNone/>
            </a:pPr>
            <a:endParaRPr lang="en-US" dirty="0"/>
          </a:p>
          <a:p>
            <a:pPr lvl="1"/>
            <a:r>
              <a:rPr lang="en-US" b="1" dirty="0"/>
              <a:t>Metrics</a:t>
            </a:r>
          </a:p>
          <a:p>
            <a:pPr lvl="2"/>
            <a:r>
              <a:rPr lang="en-US" dirty="0"/>
              <a:t>Peak Shift</a:t>
            </a:r>
          </a:p>
          <a:p>
            <a:pPr lvl="2"/>
            <a:r>
              <a:rPr lang="en-US" dirty="0"/>
              <a:t>Peak magnitude difference</a:t>
            </a:r>
          </a:p>
        </p:txBody>
      </p:sp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6B58288D-C735-EA10-BFEA-B9FE70C25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464" y="475488"/>
            <a:ext cx="3721915" cy="2729404"/>
          </a:xfrm>
          <a:prstGeom prst="rect">
            <a:avLst/>
          </a:prstGeom>
        </p:spPr>
      </p:pic>
      <p:pic>
        <p:nvPicPr>
          <p:cNvPr id="13" name="Picture 12" descr="A blue and yellow lines&#10;&#10;AI-generated content may be incorrect.">
            <a:extLst>
              <a:ext uri="{FF2B5EF4-FFF2-40B4-BE49-F238E27FC236}">
                <a16:creationId xmlns:a16="http://schemas.microsoft.com/office/drawing/2014/main" id="{0748FEF1-DD9C-7D14-6588-98E24068D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11" y="295343"/>
            <a:ext cx="2232132" cy="2800189"/>
          </a:xfrm>
          <a:prstGeom prst="rect">
            <a:avLst/>
          </a:prstGeom>
        </p:spPr>
      </p:pic>
      <p:pic>
        <p:nvPicPr>
          <p:cNvPr id="15" name="Picture 14" descr="A blue screen with a blue circle and a point&#10;&#10;AI-generated content may be incorrect.">
            <a:extLst>
              <a:ext uri="{FF2B5EF4-FFF2-40B4-BE49-F238E27FC236}">
                <a16:creationId xmlns:a16="http://schemas.microsoft.com/office/drawing/2014/main" id="{8D215198-CADB-58AF-C62B-FAFD1045D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94" y="3259154"/>
            <a:ext cx="2232132" cy="2575537"/>
          </a:xfrm>
          <a:prstGeom prst="rect">
            <a:avLst/>
          </a:prstGeom>
        </p:spPr>
      </p:pic>
      <p:pic>
        <p:nvPicPr>
          <p:cNvPr id="17" name="Picture 16" descr="A colorful flower with white text&#10;&#10;AI-generated content may be incorrect.">
            <a:extLst>
              <a:ext uri="{FF2B5EF4-FFF2-40B4-BE49-F238E27FC236}">
                <a16:creationId xmlns:a16="http://schemas.microsoft.com/office/drawing/2014/main" id="{6C36C452-9788-4CA7-6459-EC75659A00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11" y="3259154"/>
            <a:ext cx="2380072" cy="257553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A2913E7-3ED2-AB3D-BB60-15E5BBF6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8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B209-91B4-973E-98D5-E4813C5E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FMCW Radar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618C08-18E2-9240-A312-B16CB897041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Example – Object at rest</a:t>
                </a:r>
              </a:p>
              <a:p>
                <a:pPr lvl="1"/>
                <a:r>
                  <a:rPr lang="en-US" dirty="0"/>
                  <a:t>Radar Parameters</a:t>
                </a:r>
              </a:p>
              <a:p>
                <a:pPr lvl="2"/>
                <a:r>
                  <a:rPr lang="en-US" b="0" dirty="0"/>
                  <a:t>Carrier Frequency: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=77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𝐺𝐻𝑧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Bandwidth: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=1.6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𝐺𝐻𝑧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Sweep Time per Chirp: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Sample Rate: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𝑀𝐻𝑧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# chirps per frame: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Location: 18m from the radar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618C08-18E2-9240-A312-B16CB8970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3F7EBC0-2751-7F5B-8F19-9F0940EE0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065" y="546870"/>
            <a:ext cx="4120314" cy="3943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755F6D-BA48-CDCC-3DF3-7D1A368205AA}"/>
              </a:ext>
            </a:extLst>
          </p:cNvPr>
          <p:cNvSpPr txBox="1"/>
          <p:nvPr/>
        </p:nvSpPr>
        <p:spPr>
          <a:xfrm>
            <a:off x="6882063" y="4742735"/>
            <a:ext cx="3930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1:</a:t>
            </a:r>
            <a:r>
              <a:rPr lang="en-US" dirty="0"/>
              <a:t> Peak location displays distance from radar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0D29A-E35F-9CC7-9CF1-51111F20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5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52E8-E09A-E86A-B8A8-4EBB5FAF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2975-0A40-5F0E-5663-9ADAC1EC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Stationary vs Nonstationary (Doppler)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74D923-3B7A-2099-07BD-C25B2263D78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27093" y="1725849"/>
                <a:ext cx="3659896" cy="251857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Example</a:t>
                </a:r>
              </a:p>
              <a:p>
                <a:pPr lvl="1"/>
                <a:r>
                  <a:rPr lang="en-US" dirty="0"/>
                  <a:t>Object at rest</a:t>
                </a:r>
              </a:p>
              <a:p>
                <a:pPr lvl="2"/>
                <a:r>
                  <a:rPr lang="en-US" dirty="0"/>
                  <a:t>Radar Parameters (as before)</a:t>
                </a:r>
              </a:p>
              <a:p>
                <a:pPr lvl="2"/>
                <a:r>
                  <a:rPr lang="en-US" dirty="0"/>
                  <a:t>Location: 18m from the radar</a:t>
                </a:r>
              </a:p>
              <a:p>
                <a:pPr lvl="1"/>
                <a:r>
                  <a:rPr lang="en-US" dirty="0"/>
                  <a:t>Object Moving</a:t>
                </a:r>
              </a:p>
              <a:p>
                <a:pPr lvl="2"/>
                <a:r>
                  <a:rPr lang="en-US" dirty="0"/>
                  <a:t>Red line:</a:t>
                </a:r>
              </a:p>
              <a:p>
                <a:pPr lvl="3"/>
                <a:r>
                  <a:rPr lang="en-US" dirty="0"/>
                  <a:t>Target Moving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1.2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=1.2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≈1540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Dashed vertical line</a:t>
                </a:r>
              </a:p>
              <a:p>
                <a:pPr lvl="2"/>
                <a:r>
                  <a:rPr lang="en-US" dirty="0"/>
                  <a:t>Detected Doppler peak from the FT output</a:t>
                </a:r>
              </a:p>
              <a:p>
                <a:pPr lvl="1"/>
                <a:r>
                  <a:rPr lang="en-US" dirty="0"/>
                  <a:t>Simulation matches theory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074D923-3B7A-2099-07BD-C25B2263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27093" y="1725849"/>
                <a:ext cx="3659896" cy="25185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ue and yellow graph&#10;&#10;AI-generated content may be incorrect.">
            <a:extLst>
              <a:ext uri="{FF2B5EF4-FFF2-40B4-BE49-F238E27FC236}">
                <a16:creationId xmlns:a16="http://schemas.microsoft.com/office/drawing/2014/main" id="{56A68B58-DCE7-9494-4A8C-030800453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234" y="1252728"/>
            <a:ext cx="3465162" cy="32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064CF22-3D26-1649-979A-48AEC12337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242481"/>
                  </p:ext>
                </p:extLst>
              </p:nvPr>
            </p:nvGraphicFramePr>
            <p:xfrm>
              <a:off x="731521" y="5468808"/>
              <a:ext cx="6262670" cy="62234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77988">
                      <a:extLst>
                        <a:ext uri="{9D8B030D-6E8A-4147-A177-3AD203B41FA5}">
                          <a16:colId xmlns:a16="http://schemas.microsoft.com/office/drawing/2014/main" val="866805529"/>
                        </a:ext>
                      </a:extLst>
                    </a:gridCol>
                    <a:gridCol w="1677988">
                      <a:extLst>
                        <a:ext uri="{9D8B030D-6E8A-4147-A177-3AD203B41FA5}">
                          <a16:colId xmlns:a16="http://schemas.microsoft.com/office/drawing/2014/main" val="2465420701"/>
                        </a:ext>
                      </a:extLst>
                    </a:gridCol>
                    <a:gridCol w="1549527">
                      <a:extLst>
                        <a:ext uri="{9D8B030D-6E8A-4147-A177-3AD203B41FA5}">
                          <a16:colId xmlns:a16="http://schemas.microsoft.com/office/drawing/2014/main" val="2050074064"/>
                        </a:ext>
                      </a:extLst>
                    </a:gridCol>
                    <a:gridCol w="1357167">
                      <a:extLst>
                        <a:ext uri="{9D8B030D-6E8A-4147-A177-3AD203B41FA5}">
                          <a16:colId xmlns:a16="http://schemas.microsoft.com/office/drawing/2014/main" val="780220986"/>
                        </a:ext>
                      </a:extLst>
                    </a:gridCol>
                  </a:tblGrid>
                  <a:tr h="311174">
                    <a:tc row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Doppler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Theoretical value [Hz]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Simulated Value [Hz]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Error [%]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39941038"/>
                      </a:ext>
                    </a:extLst>
                  </a:tr>
                  <a:tr h="31117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≈±</m:t>
                                </m:r>
                                <m:r>
                                  <a:rPr lang="en-US" sz="11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1540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1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1545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≈0.</m:t>
                                </m:r>
                                <m:r>
                                  <a:rPr lang="en-US" sz="11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266745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064CF22-3D26-1649-979A-48AEC12337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2242481"/>
                  </p:ext>
                </p:extLst>
              </p:nvPr>
            </p:nvGraphicFramePr>
            <p:xfrm>
              <a:off x="731521" y="5468808"/>
              <a:ext cx="6262670" cy="62234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77988">
                      <a:extLst>
                        <a:ext uri="{9D8B030D-6E8A-4147-A177-3AD203B41FA5}">
                          <a16:colId xmlns:a16="http://schemas.microsoft.com/office/drawing/2014/main" val="866805529"/>
                        </a:ext>
                      </a:extLst>
                    </a:gridCol>
                    <a:gridCol w="1677988">
                      <a:extLst>
                        <a:ext uri="{9D8B030D-6E8A-4147-A177-3AD203B41FA5}">
                          <a16:colId xmlns:a16="http://schemas.microsoft.com/office/drawing/2014/main" val="2465420701"/>
                        </a:ext>
                      </a:extLst>
                    </a:gridCol>
                    <a:gridCol w="1549527">
                      <a:extLst>
                        <a:ext uri="{9D8B030D-6E8A-4147-A177-3AD203B41FA5}">
                          <a16:colId xmlns:a16="http://schemas.microsoft.com/office/drawing/2014/main" val="2050074064"/>
                        </a:ext>
                      </a:extLst>
                    </a:gridCol>
                    <a:gridCol w="1357167">
                      <a:extLst>
                        <a:ext uri="{9D8B030D-6E8A-4147-A177-3AD203B41FA5}">
                          <a16:colId xmlns:a16="http://schemas.microsoft.com/office/drawing/2014/main" val="780220986"/>
                        </a:ext>
                      </a:extLst>
                    </a:gridCol>
                  </a:tblGrid>
                  <a:tr h="311174">
                    <a:tc row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Doppler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Theoretical value [Hz]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Simulated Value [Hz]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100" dirty="0">
                              <a:effectLst/>
                            </a:rPr>
                            <a:t>Error [%]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Mangal" panose="02040503050203030202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39941038"/>
                      </a:ext>
                    </a:extLst>
                  </a:tr>
                  <a:tr h="31117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0362" t="-103922" r="-174275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17717" t="-103922" r="-89370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61883" t="-103922" r="-1794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6745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DFCB523-56FE-34B5-D24F-EAB71FA9E51B}"/>
              </a:ext>
            </a:extLst>
          </p:cNvPr>
          <p:cNvSpPr txBox="1"/>
          <p:nvPr/>
        </p:nvSpPr>
        <p:spPr>
          <a:xfrm>
            <a:off x="5316288" y="4717547"/>
            <a:ext cx="652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2:</a:t>
            </a:r>
            <a:r>
              <a:rPr lang="en-US" dirty="0"/>
              <a:t> Stationary (left) and Nonstationary (right)</a:t>
            </a:r>
          </a:p>
        </p:txBody>
      </p:sp>
      <p:pic>
        <p:nvPicPr>
          <p:cNvPr id="12" name="Picture 11" descr="A green and yellow line&#10;&#10;AI-generated content may be incorrect.">
            <a:extLst>
              <a:ext uri="{FF2B5EF4-FFF2-40B4-BE49-F238E27FC236}">
                <a16:creationId xmlns:a16="http://schemas.microsoft.com/office/drawing/2014/main" id="{1FC6B18D-9E07-5EA2-DF75-D1E9B6B92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8943" y="1555728"/>
            <a:ext cx="3925015" cy="2562357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F65021-DFA3-659D-9BC9-2446BA01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D562-D974-DFE5-CCFE-805003EF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1FF4-DE60-4CD7-9F93-36485430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 Spoofing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53D0C-914C-17E9-A482-C8EC09643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SCR performs two spoofing tests:</a:t>
            </a:r>
          </a:p>
          <a:p>
            <a:pPr lvl="1"/>
            <a:r>
              <a:rPr lang="en-US" dirty="0"/>
              <a:t>Chirp-splitting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Velocity-modulation detection</a:t>
            </a:r>
          </a:p>
          <a:p>
            <a:pPr lvl="1"/>
            <a:r>
              <a:rPr lang="en-US" dirty="0"/>
              <a:t>Each chirp split into two pieces:</a:t>
            </a:r>
          </a:p>
          <a:p>
            <a:pPr lvl="2"/>
            <a:r>
              <a:rPr lang="en-US" dirty="0"/>
              <a:t>Lower half of chirp: slightly lower carrier frequency</a:t>
            </a:r>
          </a:p>
          <a:p>
            <a:pPr lvl="2"/>
            <a:r>
              <a:rPr lang="en-US" dirty="0"/>
              <a:t>Upper half of chirp: slightly higher carrier frequency </a:t>
            </a:r>
          </a:p>
          <a:p>
            <a:pPr lvl="1"/>
            <a:r>
              <a:rPr lang="en-US" dirty="0"/>
              <a:t>For a real/natural object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Doppler scales with the carrier frequency so the peaks line up</a:t>
            </a:r>
          </a:p>
          <a:p>
            <a:pPr lvl="1"/>
            <a:r>
              <a:rPr lang="en-US" dirty="0"/>
              <a:t>For a modulated backscatterer / spoofer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Doppler independent of the carrier, so the peaks will misalign. </a:t>
            </a:r>
          </a:p>
          <a:p>
            <a:pPr lvl="1"/>
            <a:r>
              <a:rPr lang="en-US" dirty="0"/>
              <a:t>Metric: Peak-Shift</a:t>
            </a:r>
          </a:p>
          <a:p>
            <a:pPr lvl="2"/>
            <a:r>
              <a:rPr lang="en-US" dirty="0"/>
              <a:t>Doppler peak misalignment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Large shifts are more indicative of spoofing</a:t>
            </a:r>
          </a:p>
          <a:p>
            <a:pPr lvl="3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129003EC-094F-5DD6-A05F-79A29F92FE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3913" y="1563624"/>
                <a:ext cx="5306566" cy="4572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SCR performs two spoofing tests:</a:t>
                </a:r>
              </a:p>
              <a:p>
                <a:pPr lvl="1"/>
                <a:r>
                  <a:rPr lang="en-US" dirty="0"/>
                  <a:t>Frame-splitting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dirty="0"/>
                  <a:t> Distance-modulation detection</a:t>
                </a:r>
              </a:p>
              <a:p>
                <a:pPr lvl="1"/>
                <a:r>
                  <a:rPr lang="en-US" dirty="0"/>
                  <a:t>Chirps grouped into two categories:</a:t>
                </a:r>
              </a:p>
              <a:p>
                <a:pPr lvl="2"/>
                <a:r>
                  <a:rPr lang="en-US" dirty="0"/>
                  <a:t>Even-numbered chirps: uniform timing: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𝑘𝑇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Odd-numbered chirps: jittered timing: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 real/natural object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dirty="0"/>
                  <a:t> Do not depend on chirp timing, so peaks remain similar</a:t>
                </a:r>
              </a:p>
              <a:p>
                <a:pPr lvl="1"/>
                <a:r>
                  <a:rPr lang="en-US" dirty="0"/>
                  <a:t>For a modulated backscatterer / spoofer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/>
                  <a:t>Relies on aliasing and collapses when timing is changed </a:t>
                </a:r>
              </a:p>
              <a:p>
                <a:pPr lvl="1"/>
                <a:r>
                  <a:rPr lang="en-US" dirty="0"/>
                  <a:t>Metric: Peak magnitude difference</a:t>
                </a:r>
              </a:p>
              <a:p>
                <a:pPr lvl="2"/>
                <a:r>
                  <a:rPr lang="en-US" dirty="0"/>
                  <a:t>Difference between coherent peak energy under uniform vs jittered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dirty="0"/>
                  <a:t> Large reductions is more indicative of spoofing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129003EC-094F-5DD6-A05F-79A29F92F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913" y="1563624"/>
                <a:ext cx="5306566" cy="4572000"/>
              </a:xfrm>
              <a:prstGeom prst="rect">
                <a:avLst/>
              </a:prstGeom>
              <a:blipFill>
                <a:blip r:embed="rId3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9BB8E-73DA-F5B2-3704-37F5B04B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D51-0134-3C71-5284-8244BDAD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8A88-91D2-8C8F-1EFB-63013B03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Chirp-Splitting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754C0-290F-2641-F0AD-2A54251BEC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490724"/>
            <a:ext cx="2776293" cy="3598586"/>
          </a:xfrm>
        </p:spPr>
        <p:txBody>
          <a:bodyPr/>
          <a:lstStyle/>
          <a:p>
            <a:r>
              <a:rPr lang="en-US" dirty="0"/>
              <a:t>Natural Target at 18m moving at 1.2 m/s</a:t>
            </a:r>
          </a:p>
          <a:p>
            <a:r>
              <a:rPr lang="en-US" dirty="0"/>
              <a:t>Radar – 77GHz</a:t>
            </a:r>
          </a:p>
          <a:p>
            <a:r>
              <a:rPr lang="en-US" dirty="0"/>
              <a:t>Spoofing</a:t>
            </a:r>
          </a:p>
          <a:p>
            <a:pPr lvl="1"/>
            <a:r>
              <a:rPr lang="en-US" dirty="0"/>
              <a:t>1 kHz spoofing reflector</a:t>
            </a:r>
          </a:p>
          <a:p>
            <a:pPr lvl="1"/>
            <a:r>
              <a:rPr lang="en-US" dirty="0"/>
              <a:t>60% amplitude of the natural target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845DB-2BE9-1F9E-E746-5D72D761B29B}"/>
              </a:ext>
            </a:extLst>
          </p:cNvPr>
          <p:cNvSpPr txBox="1"/>
          <p:nvPr/>
        </p:nvSpPr>
        <p:spPr>
          <a:xfrm>
            <a:off x="5220687" y="900290"/>
            <a:ext cx="1714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3:</a:t>
            </a:r>
            <a:r>
              <a:rPr lang="en-US" dirty="0"/>
              <a:t> No spoofer – chirp peaks line up</a:t>
            </a:r>
          </a:p>
        </p:txBody>
      </p:sp>
      <p:pic>
        <p:nvPicPr>
          <p:cNvPr id="5" name="Picture 4" descr="A graph of a graph showing a red and blue line&#10;&#10;AI-generated content may be incorrect.">
            <a:extLst>
              <a:ext uri="{FF2B5EF4-FFF2-40B4-BE49-F238E27FC236}">
                <a16:creationId xmlns:a16="http://schemas.microsoft.com/office/drawing/2014/main" id="{4959AC62-BC16-709D-5C31-1777A180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983" y="3429000"/>
            <a:ext cx="4957853" cy="3264666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7FF6E308-1943-2C2C-6E4D-592667DFB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13" y="56252"/>
            <a:ext cx="4992523" cy="32615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0BFDB7-A350-E97E-5B4B-5DAB78AA1072}"/>
              </a:ext>
            </a:extLst>
          </p:cNvPr>
          <p:cNvSpPr txBox="1"/>
          <p:nvPr/>
        </p:nvSpPr>
        <p:spPr>
          <a:xfrm>
            <a:off x="5086094" y="3555839"/>
            <a:ext cx="1919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4: </a:t>
            </a:r>
            <a:r>
              <a:rPr lang="en-US" dirty="0"/>
              <a:t>Spoofer – chirp peaks exhibit splitting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F7988D-6EBD-1C0F-24DC-C0427C26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06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9CC00-7419-3ECA-720A-FFB363E7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15D4-69DA-A7E1-EBE7-B1F0CB9C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Frame-Splitting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B6947-7BAF-5064-E8F5-876766FE6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490724"/>
            <a:ext cx="2776293" cy="3598586"/>
          </a:xfrm>
        </p:spPr>
        <p:txBody>
          <a:bodyPr/>
          <a:lstStyle/>
          <a:p>
            <a:r>
              <a:rPr lang="en-US" dirty="0"/>
              <a:t>Natural Target at 18m moving at 1.2 m/s</a:t>
            </a:r>
          </a:p>
          <a:p>
            <a:r>
              <a:rPr lang="en-US" dirty="0"/>
              <a:t>Radar – 77GHz</a:t>
            </a:r>
          </a:p>
          <a:p>
            <a:r>
              <a:rPr lang="en-US" dirty="0"/>
              <a:t>Spoofing</a:t>
            </a:r>
          </a:p>
          <a:p>
            <a:pPr lvl="1"/>
            <a:r>
              <a:rPr lang="en-US" dirty="0"/>
              <a:t>1 kHz spoofing reflector</a:t>
            </a:r>
          </a:p>
          <a:p>
            <a:pPr lvl="1"/>
            <a:r>
              <a:rPr lang="en-US" dirty="0"/>
              <a:t>60% amplitude of the natural target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BA2AB-B09F-585E-B96C-82A8EF8B3B8D}"/>
              </a:ext>
            </a:extLst>
          </p:cNvPr>
          <p:cNvSpPr txBox="1"/>
          <p:nvPr/>
        </p:nvSpPr>
        <p:spPr>
          <a:xfrm>
            <a:off x="5220687" y="900290"/>
            <a:ext cx="1714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5:</a:t>
            </a:r>
            <a:r>
              <a:rPr lang="en-US" dirty="0"/>
              <a:t> No spoofer – chirp peaks line 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FE10E-3549-6C2B-13AB-2A03E4439A0A}"/>
              </a:ext>
            </a:extLst>
          </p:cNvPr>
          <p:cNvSpPr txBox="1"/>
          <p:nvPr/>
        </p:nvSpPr>
        <p:spPr>
          <a:xfrm>
            <a:off x="5047994" y="3555839"/>
            <a:ext cx="1919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6: </a:t>
            </a:r>
            <a:r>
              <a:rPr lang="en-US" dirty="0"/>
              <a:t>Spoofer – frame exhibits splitting</a:t>
            </a:r>
          </a:p>
        </p:txBody>
      </p:sp>
      <p:pic>
        <p:nvPicPr>
          <p:cNvPr id="7" name="Picture 6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F684DDCE-8A83-44DE-1179-E428BB4E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82" y="51076"/>
            <a:ext cx="4957853" cy="3238941"/>
          </a:xfrm>
          <a:prstGeom prst="rect">
            <a:avLst/>
          </a:prstGeom>
        </p:spPr>
      </p:pic>
      <p:pic>
        <p:nvPicPr>
          <p:cNvPr id="11" name="Picture 10" descr="A graph of a diagram&#10;&#10;AI-generated content may be incorrect.">
            <a:extLst>
              <a:ext uri="{FF2B5EF4-FFF2-40B4-BE49-F238E27FC236}">
                <a16:creationId xmlns:a16="http://schemas.microsoft.com/office/drawing/2014/main" id="{CDA64E4D-407B-0E77-AB49-22D977881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984" y="3302161"/>
            <a:ext cx="5129851" cy="337792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F237174-08A2-D17A-7430-E33AE8B9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33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B33E-1CEE-1226-6E20-16112727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D5C24-9604-864E-53E9-8499C72B3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K. Qian and P. Pathak, “Toward Spoofing-Resilient and Communication-Integrated MmWave Radar Sensing,” 2025.</a:t>
            </a:r>
          </a:p>
          <a:p>
            <a:r>
              <a:rPr lang="en-US" dirty="0"/>
              <a:t>M. L. Psiaki and T. E. Humphreys, “GNSS spoofing and detection,” </a:t>
            </a:r>
            <a:r>
              <a:rPr lang="en-US" i="1" dirty="0"/>
              <a:t>Proceedings of the IEEE</a:t>
            </a:r>
            <a:r>
              <a:rPr lang="en-US" dirty="0"/>
              <a:t>, vol. 104, no. 6, pp. 1258–1270, 2016.</a:t>
            </a:r>
          </a:p>
          <a:p>
            <a:r>
              <a:rPr lang="en-US" dirty="0"/>
              <a:t>D. Hunt, K. Angell, Z. Qi, T. Chen, and M. Pajic, “MadRadar: A Black-Box Physical Layer Attack Framework on mmWave Automotive FMCW Radars,” in </a:t>
            </a:r>
            <a:r>
              <a:rPr lang="en-US" i="1" dirty="0"/>
              <a:t>Proceedings 2024 Network and Distributed System Security Symposium</a:t>
            </a:r>
            <a:r>
              <a:rPr lang="en-US" dirty="0"/>
              <a:t>, San Diego, CA, USA: Internet Society, 2024. doi: </a:t>
            </a:r>
            <a:r>
              <a:rPr lang="en-US" dirty="0">
                <a:hlinkClick r:id="rId2"/>
              </a:rPr>
              <a:t>10.14722/ndss.2024.24153</a:t>
            </a:r>
            <a:r>
              <a:rPr lang="en-US" dirty="0"/>
              <a:t>.</a:t>
            </a:r>
          </a:p>
          <a:p>
            <a:r>
              <a:rPr lang="en-US" dirty="0"/>
              <a:t>R. Reddy Vennam </a:t>
            </a:r>
            <a:r>
              <a:rPr lang="en-US" i="1" dirty="0"/>
              <a:t>et al.</a:t>
            </a:r>
            <a:r>
              <a:rPr lang="en-US" dirty="0"/>
              <a:t>, “mmSpoof: Resilient Spoofing of Automotive Millimeter-wave Radars using Reflect Array,” in </a:t>
            </a:r>
            <a:r>
              <a:rPr lang="en-US" i="1" dirty="0"/>
              <a:t>2023 IEEE Symposium on Security and Privacy (SP)</a:t>
            </a:r>
            <a:r>
              <a:rPr lang="en-US" dirty="0"/>
              <a:t>, San Francisco, CA, USA: IEEE, May 2023, pp. 1807–1821. doi: </a:t>
            </a:r>
            <a:r>
              <a:rPr lang="en-US" dirty="0">
                <a:hlinkClick r:id="rId3"/>
              </a:rPr>
              <a:t>10.1109/SP46215.2023.10179371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1E403-8CAC-8932-4303-40F1749D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35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95D2-9122-8A22-2034-FFD499E4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sz="4400" dirty="0"/>
              <a:t>Questions/Comments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C2B88-22C6-ECF9-60F2-D1C9A98E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45AC3-CC88-4C8A-A6CE-8D44921B6A2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6408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9074</TotalTime>
  <Words>736</Words>
  <Application>Microsoft Office PowerPoint</Application>
  <PresentationFormat>Widescreen</PresentationFormat>
  <Paragraphs>109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Avenir Next LT Pro</vt:lpstr>
      <vt:lpstr>Avenir Next LT Pro Light</vt:lpstr>
      <vt:lpstr>Calibri</vt:lpstr>
      <vt:lpstr>Cambria Math</vt:lpstr>
      <vt:lpstr>Neue Haas Grotesk Text Pro</vt:lpstr>
      <vt:lpstr>Times New Roman</vt:lpstr>
      <vt:lpstr>GradientRise</vt:lpstr>
      <vt:lpstr>Toward Spoofing-Resilient and Communication-Integrated MmWave Radar Sensing(SCR)</vt:lpstr>
      <vt:lpstr>Spoofing Problem &amp; SCR Concept</vt:lpstr>
      <vt:lpstr>Evaluation Plan</vt:lpstr>
      <vt:lpstr>FMCW Radar</vt:lpstr>
      <vt:lpstr>Stationary vs Nonstationary (Doppler)</vt:lpstr>
      <vt:lpstr>SCR Spoofing</vt:lpstr>
      <vt:lpstr>Chirp-Splitting </vt:lpstr>
      <vt:lpstr>Frame-Splitting </vt:lpstr>
      <vt:lpstr>References</vt:lpstr>
      <vt:lpstr>Thank You! Questions/Comments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Vedran Beganovic</dc:creator>
  <cp:lastModifiedBy>Vedran Beganovic</cp:lastModifiedBy>
  <cp:revision>39</cp:revision>
  <dcterms:created xsi:type="dcterms:W3CDTF">2025-12-10T23:42:29Z</dcterms:created>
  <dcterms:modified xsi:type="dcterms:W3CDTF">2025-12-17T13:27:10Z</dcterms:modified>
</cp:coreProperties>
</file>